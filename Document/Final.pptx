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58" r:id="rId4"/>
    <p:sldId id="257" r:id="rId5"/>
    <p:sldId id="263" r:id="rId6"/>
    <p:sldId id="260" r:id="rId7"/>
    <p:sldId id="262" r:id="rId8"/>
  </p:sldIdLst>
  <p:sldSz cx="18288000" cy="10287000"/>
  <p:notesSz cx="6858000" cy="9144000"/>
  <p:embeddedFontLst>
    <p:embeddedFont>
      <p:font typeface="Code Pro" panose="020B0604020202020204" charset="0"/>
      <p:regular r:id="rId9"/>
    </p:embeddedFont>
    <p:embeddedFont>
      <p:font typeface="Code Pro Bold" panose="020B0604020202020204" charset="0"/>
      <p:regular r:id="rId10"/>
    </p:embeddedFon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86" y="7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0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89239" y="-1712430"/>
            <a:ext cx="14433148" cy="14433148"/>
          </a:xfrm>
          <a:custGeom>
            <a:avLst/>
            <a:gdLst/>
            <a:ahLst/>
            <a:cxnLst/>
            <a:rect l="l" t="t" r="r" b="b"/>
            <a:pathLst>
              <a:path w="14433148" h="14433148">
                <a:moveTo>
                  <a:pt x="0" y="0"/>
                </a:moveTo>
                <a:lnTo>
                  <a:pt x="14433148" y="0"/>
                </a:lnTo>
                <a:lnTo>
                  <a:pt x="14433148" y="14433149"/>
                </a:lnTo>
                <a:lnTo>
                  <a:pt x="0" y="1443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645533" y="-2081125"/>
            <a:ext cx="14239875" cy="14110266"/>
          </a:xfrm>
          <a:custGeom>
            <a:avLst/>
            <a:gdLst/>
            <a:ahLst/>
            <a:cxnLst/>
            <a:rect l="l" t="t" r="r" b="b"/>
            <a:pathLst>
              <a:path w="14239875" h="14110266">
                <a:moveTo>
                  <a:pt x="0" y="0"/>
                </a:moveTo>
                <a:lnTo>
                  <a:pt x="14239875" y="0"/>
                </a:lnTo>
                <a:lnTo>
                  <a:pt x="14239875" y="14110266"/>
                </a:lnTo>
                <a:lnTo>
                  <a:pt x="0" y="14110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36" t="-102588" r="-284276" b="-1585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3307" y="1592633"/>
            <a:ext cx="8835569" cy="676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5"/>
              </a:lnSpc>
            </a:pPr>
            <a:r>
              <a:rPr lang="en-US" sz="8904" b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An AI-Powered Complaint </a:t>
            </a:r>
            <a:r>
              <a:rPr lang="en-US" sz="8904" b="1">
                <a:solidFill>
                  <a:srgbClr val="F08419"/>
                </a:solidFill>
                <a:latin typeface="Garet Bold"/>
                <a:ea typeface="Garet Bold"/>
                <a:cs typeface="Garet Bold"/>
                <a:sym typeface="Garet Bold"/>
              </a:rPr>
              <a:t>Management Platform for Sri Lanka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50035" y="0"/>
            <a:ext cx="5121127" cy="2302812"/>
            <a:chOff x="0" y="0"/>
            <a:chExt cx="6828169" cy="30704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70416" cy="3070416"/>
            </a:xfrm>
            <a:custGeom>
              <a:avLst/>
              <a:gdLst/>
              <a:ahLst/>
              <a:cxnLst/>
              <a:rect l="l" t="t" r="r" b="b"/>
              <a:pathLst>
                <a:path w="3070416" h="3070416">
                  <a:moveTo>
                    <a:pt x="0" y="0"/>
                  </a:moveTo>
                  <a:lnTo>
                    <a:pt x="3070416" y="0"/>
                  </a:lnTo>
                  <a:lnTo>
                    <a:pt x="3070416" y="3070416"/>
                  </a:lnTo>
                  <a:lnTo>
                    <a:pt x="0" y="307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65240" y="799449"/>
              <a:ext cx="4462928" cy="58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1"/>
                </a:lnSpc>
              </a:pPr>
              <a:r>
                <a:rPr lang="en-US" sz="2672" b="1">
                  <a:solidFill>
                    <a:srgbClr val="00203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GovConnect.lk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645533" y="0"/>
            <a:ext cx="8642467" cy="10287000"/>
          </a:xfrm>
          <a:custGeom>
            <a:avLst/>
            <a:gdLst/>
            <a:ahLst/>
            <a:cxnLst/>
            <a:rect l="l" t="t" r="r" b="b"/>
            <a:pathLst>
              <a:path w="8642467" h="10287000">
                <a:moveTo>
                  <a:pt x="0" y="0"/>
                </a:moveTo>
                <a:lnTo>
                  <a:pt x="8642467" y="0"/>
                </a:lnTo>
                <a:lnTo>
                  <a:pt x="86424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902" r="-40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945246" y="9075227"/>
            <a:ext cx="501282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  <a:spcBef>
                <a:spcPct val="0"/>
              </a:spcBef>
            </a:pPr>
            <a:r>
              <a:rPr lang="en-US" sz="2351">
                <a:solidFill>
                  <a:srgbClr val="000000"/>
                </a:solidFill>
                <a:latin typeface="Code Pro"/>
                <a:ea typeface="Code Pro"/>
                <a:cs typeface="Code Pro"/>
                <a:sym typeface="Code Pro"/>
              </a:rPr>
              <a:t>Premalal W.M.B.S - IT22607782 </a:t>
            </a:r>
          </a:p>
          <a:p>
            <a:pPr algn="l">
              <a:lnSpc>
                <a:spcPts val="2822"/>
              </a:lnSpc>
              <a:spcBef>
                <a:spcPct val="0"/>
              </a:spcBef>
            </a:pPr>
            <a:r>
              <a:rPr lang="en-US" sz="2351">
                <a:solidFill>
                  <a:srgbClr val="000000"/>
                </a:solidFill>
                <a:latin typeface="Code Pro"/>
                <a:ea typeface="Code Pro"/>
                <a:cs typeface="Code Pro"/>
                <a:sym typeface="Code Pro"/>
              </a:rPr>
              <a:t>Shehara D.M.C - IT22593900</a:t>
            </a:r>
          </a:p>
          <a:p>
            <a:pPr algn="l">
              <a:lnSpc>
                <a:spcPts val="2822"/>
              </a:lnSpc>
              <a:spcBef>
                <a:spcPct val="0"/>
              </a:spcBef>
            </a:pPr>
            <a:r>
              <a:rPr lang="en-US" sz="2351">
                <a:solidFill>
                  <a:srgbClr val="000000"/>
                </a:solidFill>
                <a:latin typeface="Code Pro"/>
                <a:ea typeface="Code Pro"/>
                <a:cs typeface="Code Pro"/>
                <a:sym typeface="Code Pro"/>
              </a:rPr>
              <a:t>Group Number - 25-26J-153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6901" y="-390895"/>
            <a:ext cx="5121127" cy="2302812"/>
            <a:chOff x="0" y="0"/>
            <a:chExt cx="6828169" cy="30704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70416" cy="3070416"/>
            </a:xfrm>
            <a:custGeom>
              <a:avLst/>
              <a:gdLst/>
              <a:ahLst/>
              <a:cxnLst/>
              <a:rect l="l" t="t" r="r" b="b"/>
              <a:pathLst>
                <a:path w="3070416" h="3070416">
                  <a:moveTo>
                    <a:pt x="0" y="0"/>
                  </a:moveTo>
                  <a:lnTo>
                    <a:pt x="3070416" y="0"/>
                  </a:lnTo>
                  <a:lnTo>
                    <a:pt x="3070416" y="3070416"/>
                  </a:lnTo>
                  <a:lnTo>
                    <a:pt x="0" y="307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65240" y="799449"/>
              <a:ext cx="4462928" cy="58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71616" y="7730886"/>
            <a:ext cx="2712871" cy="34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3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Quantitative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21" y="817778"/>
            <a:ext cx="11538729" cy="4763735"/>
          </a:xfrm>
          <a:custGeom>
            <a:avLst/>
            <a:gdLst/>
            <a:ahLst/>
            <a:cxnLst/>
            <a:rect l="l" t="t" r="r" b="b"/>
            <a:pathLst>
              <a:path w="11538729" h="4763735">
                <a:moveTo>
                  <a:pt x="0" y="0"/>
                </a:moveTo>
                <a:lnTo>
                  <a:pt x="11538729" y="0"/>
                </a:lnTo>
                <a:lnTo>
                  <a:pt x="11538729" y="4763735"/>
                </a:lnTo>
                <a:lnTo>
                  <a:pt x="0" y="47637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797209" y="8950053"/>
            <a:ext cx="1302368" cy="3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202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Research</a:t>
            </a:r>
          </a:p>
        </p:txBody>
      </p:sp>
      <p:sp>
        <p:nvSpPr>
          <p:cNvPr id="8" name="Freeform 8"/>
          <p:cNvSpPr/>
          <p:nvPr/>
        </p:nvSpPr>
        <p:spPr>
          <a:xfrm>
            <a:off x="7871231" y="5729119"/>
            <a:ext cx="9651227" cy="3984485"/>
          </a:xfrm>
          <a:custGeom>
            <a:avLst/>
            <a:gdLst/>
            <a:ahLst/>
            <a:cxnLst/>
            <a:rect l="l" t="t" r="r" b="b"/>
            <a:pathLst>
              <a:path w="9651227" h="3984485">
                <a:moveTo>
                  <a:pt x="0" y="0"/>
                </a:moveTo>
                <a:lnTo>
                  <a:pt x="9651227" y="0"/>
                </a:lnTo>
                <a:lnTo>
                  <a:pt x="9651227" y="3984485"/>
                </a:lnTo>
                <a:lnTo>
                  <a:pt x="0" y="3984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219647" y="9713604"/>
            <a:ext cx="6068353" cy="717698"/>
            <a:chOff x="0" y="0"/>
            <a:chExt cx="8091138" cy="9569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765" cy="956930"/>
            </a:xfrm>
            <a:custGeom>
              <a:avLst/>
              <a:gdLst/>
              <a:ahLst/>
              <a:cxnLst/>
              <a:rect l="l" t="t" r="r" b="b"/>
              <a:pathLst>
                <a:path w="2692765" h="956930">
                  <a:moveTo>
                    <a:pt x="0" y="0"/>
                  </a:moveTo>
                  <a:lnTo>
                    <a:pt x="2692765" y="0"/>
                  </a:lnTo>
                  <a:lnTo>
                    <a:pt x="2692765" y="956930"/>
                  </a:lnTo>
                  <a:lnTo>
                    <a:pt x="0" y="95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136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92765" y="324222"/>
              <a:ext cx="5398373" cy="382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2"/>
                </a:lnSpc>
              </a:pPr>
              <a:r>
                <a:rPr lang="en-US" sz="1851">
                  <a:solidFill>
                    <a:srgbClr val="002035"/>
                  </a:solidFill>
                  <a:latin typeface="Code Pro"/>
                  <a:ea typeface="Code Pro"/>
                  <a:cs typeface="Code Pro"/>
                  <a:sym typeface="Code Pro"/>
                </a:rPr>
                <a:t>W.M.B.S Premalal || 25-26J-153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2402" y="333747"/>
              <a:ext cx="1775134" cy="32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7"/>
                </a:lnSpc>
              </a:pPr>
              <a:r>
                <a:rPr lang="en-US" sz="1631">
                  <a:solidFill>
                    <a:srgbClr val="FFFFFF"/>
                  </a:solidFill>
                  <a:latin typeface="Code Pro"/>
                  <a:ea typeface="Code Pro"/>
                  <a:cs typeface="Code Pro"/>
                  <a:sym typeface="Code Pro"/>
                </a:rPr>
                <a:t>IT22607782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83036" y="7004035"/>
            <a:ext cx="2577161" cy="2577161"/>
          </a:xfrm>
          <a:custGeom>
            <a:avLst/>
            <a:gdLst/>
            <a:ahLst/>
            <a:cxnLst/>
            <a:rect l="l" t="t" r="r" b="b"/>
            <a:pathLst>
              <a:path w="2577161" h="2577161">
                <a:moveTo>
                  <a:pt x="0" y="0"/>
                </a:moveTo>
                <a:lnTo>
                  <a:pt x="2577160" y="0"/>
                </a:lnTo>
                <a:lnTo>
                  <a:pt x="2577160" y="2577161"/>
                </a:lnTo>
                <a:lnTo>
                  <a:pt x="0" y="2577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10303" y="7593958"/>
            <a:ext cx="4297939" cy="3015490"/>
          </a:xfrm>
          <a:custGeom>
            <a:avLst/>
            <a:gdLst/>
            <a:ahLst/>
            <a:cxnLst/>
            <a:rect l="l" t="t" r="r" b="b"/>
            <a:pathLst>
              <a:path w="4297939" h="3015490">
                <a:moveTo>
                  <a:pt x="0" y="0"/>
                </a:moveTo>
                <a:lnTo>
                  <a:pt x="4297940" y="0"/>
                </a:lnTo>
                <a:lnTo>
                  <a:pt x="4297940" y="3015490"/>
                </a:lnTo>
                <a:lnTo>
                  <a:pt x="0" y="3015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15"/>
          <p:cNvSpPr/>
          <p:nvPr/>
        </p:nvSpPr>
        <p:spPr>
          <a:xfrm>
            <a:off x="4049834" y="8292616"/>
            <a:ext cx="3164155" cy="1779837"/>
          </a:xfrm>
          <a:custGeom>
            <a:avLst/>
            <a:gdLst/>
            <a:ahLst/>
            <a:cxnLst/>
            <a:rect l="l" t="t" r="r" b="b"/>
            <a:pathLst>
              <a:path w="3164155" h="1779837">
                <a:moveTo>
                  <a:pt x="0" y="0"/>
                </a:moveTo>
                <a:lnTo>
                  <a:pt x="3164154" y="0"/>
                </a:lnTo>
                <a:lnTo>
                  <a:pt x="3164154" y="1779837"/>
                </a:lnTo>
                <a:lnTo>
                  <a:pt x="0" y="1779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16346" y="574673"/>
            <a:ext cx="10396681" cy="449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endParaRPr dirty="0"/>
          </a:p>
          <a:p>
            <a:pPr algn="ctr">
              <a:lnSpc>
                <a:spcPts val="2655"/>
              </a:lnSpc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Problem in Brief</a:t>
            </a:r>
          </a:p>
          <a:p>
            <a:pPr marL="409492" lvl="1" indent="-204746">
              <a:spcBef>
                <a:spcPct val="0"/>
              </a:spcBef>
              <a:buFont typeface="Arial"/>
              <a:buChar char="•"/>
            </a:pPr>
            <a:r>
              <a:rPr lang="en-US" sz="3200" dirty="0"/>
              <a:t>Inefficient communication between citizens and government authorities</a:t>
            </a:r>
          </a:p>
          <a:p>
            <a:pPr marL="409492" lvl="1" indent="-204746">
              <a:spcBef>
                <a:spcPct val="0"/>
              </a:spcBef>
              <a:buFont typeface="Arial"/>
              <a:buChar char="•"/>
            </a:pPr>
            <a:r>
              <a:rPr lang="en-US" sz="3200" dirty="0"/>
              <a:t>Complaints are often:</a:t>
            </a:r>
          </a:p>
          <a:p>
            <a:pPr marL="204746" lvl="1">
              <a:spcBef>
                <a:spcPct val="0"/>
              </a:spcBef>
            </a:pPr>
            <a:r>
              <a:rPr lang="en-US" sz="3200" dirty="0"/>
              <a:t>           Misrouted to incorrect departments</a:t>
            </a:r>
          </a:p>
          <a:p>
            <a:pPr marL="204746" lvl="1">
              <a:spcBef>
                <a:spcPct val="0"/>
              </a:spcBef>
            </a:pPr>
            <a:r>
              <a:rPr lang="en-US" sz="3200" dirty="0"/>
              <a:t>           Not prioritized based on urgency</a:t>
            </a:r>
          </a:p>
          <a:p>
            <a:pPr marL="204746" lvl="1">
              <a:spcBef>
                <a:spcPct val="0"/>
              </a:spcBef>
            </a:pPr>
            <a:r>
              <a:rPr lang="en-US" sz="3200" dirty="0"/>
              <a:t>           Lacking transparency in tracking progress</a:t>
            </a:r>
          </a:p>
          <a:p>
            <a:pPr marL="204746" lvl="1">
              <a:spcBef>
                <a:spcPct val="0"/>
              </a:spcBef>
            </a:pPr>
            <a:r>
              <a:rPr lang="en-US" sz="3200" dirty="0"/>
              <a:t>Existing systems rely on manual processing, causing delays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endParaRPr lang="en-US" sz="1896" dirty="0">
              <a:solidFill>
                <a:srgbClr val="00203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47773" y="6048211"/>
            <a:ext cx="9507686" cy="306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Design Excellence Over Existing Solutions</a:t>
            </a:r>
          </a:p>
          <a:p>
            <a:pPr marL="342900" indent="-342900">
              <a:lnSpc>
                <a:spcPts val="298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Automated department classification using </a:t>
            </a:r>
            <a:r>
              <a:rPr lang="en-US" sz="2400" b="1" dirty="0"/>
              <a:t>AI (LLaMA3 + RAG)</a:t>
            </a:r>
          </a:p>
          <a:p>
            <a:pPr marL="342900" indent="-342900">
              <a:lnSpc>
                <a:spcPts val="298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Intelligent priority prediction using </a:t>
            </a:r>
            <a:r>
              <a:rPr lang="en-US" sz="2400" b="1" dirty="0"/>
              <a:t>Machine Learning (</a:t>
            </a:r>
            <a:r>
              <a:rPr lang="en-US" sz="2400" b="1" dirty="0" err="1"/>
              <a:t>RandomForestRegressor</a:t>
            </a:r>
            <a:r>
              <a:rPr lang="en-US" sz="2400" b="1" dirty="0"/>
              <a:t>)</a:t>
            </a:r>
            <a:r>
              <a:rPr lang="en-US" sz="2132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342900" indent="-342900">
              <a:lnSpc>
                <a:spcPts val="298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integrated </a:t>
            </a:r>
            <a:r>
              <a:rPr lang="en-US" sz="2400" b="1" dirty="0"/>
              <a:t>citizen voting system</a:t>
            </a:r>
            <a:r>
              <a:rPr lang="en-US" sz="2400" dirty="0"/>
              <a:t> for dynamic prioritization</a:t>
            </a:r>
          </a:p>
          <a:p>
            <a:pPr marL="342900" indent="-342900">
              <a:lnSpc>
                <a:spcPts val="298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/>
              <a:t>Manual override feature</a:t>
            </a:r>
            <a:r>
              <a:rPr lang="en-US" sz="2400" dirty="0"/>
              <a:t> ensures flexibility and accuracy</a:t>
            </a:r>
            <a:r>
              <a:rPr lang="en-US" sz="2132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342900" indent="-342900">
              <a:lnSpc>
                <a:spcPts val="298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Real-time tracking improves transparency and accountability</a:t>
            </a:r>
            <a:endParaRPr lang="en-US" sz="2132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85"/>
              </a:lnSpc>
              <a:spcBef>
                <a:spcPct val="0"/>
              </a:spcBef>
            </a:pPr>
            <a:endParaRPr lang="en-US" sz="2132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59996" y="295909"/>
            <a:ext cx="13533806" cy="3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75" b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Learning–Based Resolution Time Prediction and Hybrid Prioritization Module for GovConnect LK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85201" y="-526316"/>
            <a:ext cx="4791645" cy="7329475"/>
          </a:xfrm>
          <a:custGeom>
            <a:avLst/>
            <a:gdLst/>
            <a:ahLst/>
            <a:cxnLst/>
            <a:rect l="l" t="t" r="r" b="b"/>
            <a:pathLst>
              <a:path w="4791645" h="7329475">
                <a:moveTo>
                  <a:pt x="0" y="0"/>
                </a:moveTo>
                <a:lnTo>
                  <a:pt x="4791644" y="0"/>
                </a:lnTo>
                <a:lnTo>
                  <a:pt x="4791644" y="7329475"/>
                </a:lnTo>
                <a:lnTo>
                  <a:pt x="0" y="7329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06540" y="1043550"/>
            <a:ext cx="407415" cy="407415"/>
          </a:xfrm>
          <a:custGeom>
            <a:avLst/>
            <a:gdLst/>
            <a:ahLst/>
            <a:cxnLst/>
            <a:rect l="l" t="t" r="r" b="b"/>
            <a:pathLst>
              <a:path w="407415" h="407415">
                <a:moveTo>
                  <a:pt x="0" y="0"/>
                </a:moveTo>
                <a:lnTo>
                  <a:pt x="407414" y="0"/>
                </a:lnTo>
                <a:lnTo>
                  <a:pt x="407414" y="407415"/>
                </a:lnTo>
                <a:lnTo>
                  <a:pt x="0" y="407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92336" y="971550"/>
            <a:ext cx="6655731" cy="49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910" dirty="0">
                <a:solidFill>
                  <a:srgbClr val="002035"/>
                </a:solidFill>
                <a:latin typeface="Code Pro"/>
                <a:ea typeface="Code Pro"/>
                <a:cs typeface="Code Pro"/>
                <a:sym typeface="Code Pro"/>
              </a:rPr>
              <a:t>PP2 Comments and Action Taken</a:t>
            </a:r>
          </a:p>
        </p:txBody>
      </p:sp>
      <p:sp>
        <p:nvSpPr>
          <p:cNvPr id="6" name="Freeform 6"/>
          <p:cNvSpPr/>
          <p:nvPr/>
        </p:nvSpPr>
        <p:spPr>
          <a:xfrm>
            <a:off x="-227556" y="0"/>
            <a:ext cx="1736795" cy="1357316"/>
          </a:xfrm>
          <a:custGeom>
            <a:avLst/>
            <a:gdLst/>
            <a:ahLst/>
            <a:cxnLst/>
            <a:rect l="l" t="t" r="r" b="b"/>
            <a:pathLst>
              <a:path w="1736795" h="1357316">
                <a:moveTo>
                  <a:pt x="0" y="0"/>
                </a:moveTo>
                <a:lnTo>
                  <a:pt x="1736795" y="0"/>
                </a:lnTo>
                <a:lnTo>
                  <a:pt x="1736795" y="1357316"/>
                </a:lnTo>
                <a:lnTo>
                  <a:pt x="0" y="135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979" b="-139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50860" y="371319"/>
            <a:ext cx="13414189" cy="3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75" b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Learning–Based Resolution Time Prediction and Hybrid Prioritization Module for GovConnect LK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219647" y="9569302"/>
            <a:ext cx="6068353" cy="717698"/>
            <a:chOff x="0" y="0"/>
            <a:chExt cx="8091138" cy="9569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92765" cy="956930"/>
            </a:xfrm>
            <a:custGeom>
              <a:avLst/>
              <a:gdLst/>
              <a:ahLst/>
              <a:cxnLst/>
              <a:rect l="l" t="t" r="r" b="b"/>
              <a:pathLst>
                <a:path w="2692765" h="956930">
                  <a:moveTo>
                    <a:pt x="0" y="0"/>
                  </a:moveTo>
                  <a:lnTo>
                    <a:pt x="2692765" y="0"/>
                  </a:lnTo>
                  <a:lnTo>
                    <a:pt x="2692765" y="956930"/>
                  </a:lnTo>
                  <a:lnTo>
                    <a:pt x="0" y="95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2765" y="324222"/>
              <a:ext cx="5398373" cy="382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2"/>
                </a:lnSpc>
              </a:pPr>
              <a:r>
                <a:rPr lang="en-US" sz="1851">
                  <a:solidFill>
                    <a:srgbClr val="002035"/>
                  </a:solidFill>
                  <a:latin typeface="Code Pro"/>
                  <a:ea typeface="Code Pro"/>
                  <a:cs typeface="Code Pro"/>
                  <a:sym typeface="Code Pro"/>
                </a:rPr>
                <a:t>W.M.B.S Premalal || 25-26J-153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2402" y="333747"/>
              <a:ext cx="1775134" cy="32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7"/>
                </a:lnSpc>
              </a:pPr>
              <a:r>
                <a:rPr lang="en-US" sz="1631">
                  <a:solidFill>
                    <a:srgbClr val="FFFFFF"/>
                  </a:solidFill>
                  <a:latin typeface="Code Pro"/>
                  <a:ea typeface="Code Pro"/>
                  <a:cs typeface="Code Pro"/>
                  <a:sym typeface="Code Pro"/>
                </a:rPr>
                <a:t>IT22607782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05102" y="8181111"/>
            <a:ext cx="15530617" cy="76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endParaRPr lang="en-US" sz="2199" dirty="0">
              <a:solidFill>
                <a:srgbClr val="00203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40"/>
              </a:lnSpc>
            </a:pPr>
            <a:endParaRPr lang="en-US" sz="2199" dirty="0">
              <a:solidFill>
                <a:srgbClr val="00203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785201" y="181533"/>
            <a:ext cx="4464842" cy="446484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9881" y="0"/>
                  </a:moveTo>
                  <a:lnTo>
                    <a:pt x="772919" y="0"/>
                  </a:lnTo>
                  <a:cubicBezTo>
                    <a:pt x="783496" y="0"/>
                    <a:pt x="793640" y="4202"/>
                    <a:pt x="801119" y="11681"/>
                  </a:cubicBezTo>
                  <a:cubicBezTo>
                    <a:pt x="808598" y="19160"/>
                    <a:pt x="812800" y="29304"/>
                    <a:pt x="812800" y="39881"/>
                  </a:cubicBezTo>
                  <a:lnTo>
                    <a:pt x="812800" y="772919"/>
                  </a:lnTo>
                  <a:cubicBezTo>
                    <a:pt x="812800" y="783496"/>
                    <a:pt x="808598" y="793640"/>
                    <a:pt x="801119" y="801119"/>
                  </a:cubicBezTo>
                  <a:cubicBezTo>
                    <a:pt x="793640" y="808598"/>
                    <a:pt x="783496" y="812800"/>
                    <a:pt x="772919" y="812800"/>
                  </a:cubicBezTo>
                  <a:lnTo>
                    <a:pt x="39881" y="812800"/>
                  </a:lnTo>
                  <a:cubicBezTo>
                    <a:pt x="29304" y="812800"/>
                    <a:pt x="19160" y="808598"/>
                    <a:pt x="11681" y="801119"/>
                  </a:cubicBezTo>
                  <a:cubicBezTo>
                    <a:pt x="4202" y="793640"/>
                    <a:pt x="0" y="783496"/>
                    <a:pt x="0" y="772919"/>
                  </a:cubicBezTo>
                  <a:lnTo>
                    <a:pt x="0" y="39881"/>
                  </a:lnTo>
                  <a:cubicBezTo>
                    <a:pt x="0" y="29304"/>
                    <a:pt x="4202" y="19160"/>
                    <a:pt x="11681" y="11681"/>
                  </a:cubicBezTo>
                  <a:cubicBezTo>
                    <a:pt x="19160" y="4202"/>
                    <a:pt x="29304" y="0"/>
                    <a:pt x="39881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F665753-F471-B3EB-8E72-B88B762EC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515323"/>
              </p:ext>
            </p:extLst>
          </p:nvPr>
        </p:nvGraphicFramePr>
        <p:xfrm>
          <a:off x="457200" y="1942941"/>
          <a:ext cx="11506200" cy="486021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53100">
                  <a:extLst>
                    <a:ext uri="{9D8B030D-6E8A-4147-A177-3AD203B41FA5}">
                      <a16:colId xmlns:a16="http://schemas.microsoft.com/office/drawing/2014/main" val="4197040095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1043267626"/>
                    </a:ext>
                  </a:extLst>
                </a:gridCol>
              </a:tblGrid>
              <a:tr h="462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PP2 Comment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Action Taken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003027"/>
                  </a:ext>
                </a:extLst>
              </a:tr>
              <a:tr h="810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 manual department selection instead of full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Implemented manual override option alongside AI-based suggestion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365972"/>
                  </a:ext>
                </a:extLst>
              </a:tr>
              <a:tr h="810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 complaint classification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Integrated LLaMA3 with RAG for better contextual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21950"/>
                  </a:ext>
                </a:extLst>
              </a:tr>
              <a:tr h="810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Introduce user interaction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Implemented voting system for registered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3422"/>
                  </a:ext>
                </a:extLst>
              </a:tr>
              <a:tr h="810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Avoid showing all complaints to all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Added district-based filtering with “View All” option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566549"/>
                  </a:ext>
                </a:extLst>
              </a:tr>
              <a:tr h="1157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Enhance priority calculation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Developed ML model using </a:t>
                      </a:r>
                      <a:r>
                        <a:rPr lang="en-US" sz="1800" dirty="0" err="1"/>
                        <a:t>RandomForestRegressor</a:t>
                      </a:r>
                      <a:r>
                        <a:rPr lang="en-US" sz="1800" dirty="0"/>
                        <a:t> with multiple input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1542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121127" cy="2302812"/>
            <a:chOff x="0" y="0"/>
            <a:chExt cx="6828169" cy="30704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70416" cy="3070416"/>
            </a:xfrm>
            <a:custGeom>
              <a:avLst/>
              <a:gdLst/>
              <a:ahLst/>
              <a:cxnLst/>
              <a:rect l="l" t="t" r="r" b="b"/>
              <a:pathLst>
                <a:path w="3070416" h="3070416">
                  <a:moveTo>
                    <a:pt x="0" y="0"/>
                  </a:moveTo>
                  <a:lnTo>
                    <a:pt x="3070416" y="0"/>
                  </a:lnTo>
                  <a:lnTo>
                    <a:pt x="3070416" y="3070416"/>
                  </a:lnTo>
                  <a:lnTo>
                    <a:pt x="0" y="307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65240" y="799449"/>
              <a:ext cx="4462928" cy="58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1"/>
                </a:lnSpc>
              </a:pPr>
              <a:r>
                <a:rPr lang="en-US" sz="2672" b="1">
                  <a:solidFill>
                    <a:srgbClr val="00203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GovConnect.lk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506537" y="883922"/>
            <a:ext cx="3279614" cy="3807970"/>
          </a:xfrm>
          <a:custGeom>
            <a:avLst/>
            <a:gdLst/>
            <a:ahLst/>
            <a:cxnLst/>
            <a:rect l="l" t="t" r="r" b="b"/>
            <a:pathLst>
              <a:path w="3279614" h="3807970">
                <a:moveTo>
                  <a:pt x="0" y="0"/>
                </a:moveTo>
                <a:lnTo>
                  <a:pt x="3279614" y="0"/>
                </a:lnTo>
                <a:lnTo>
                  <a:pt x="3279614" y="3807970"/>
                </a:lnTo>
                <a:lnTo>
                  <a:pt x="0" y="3807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54541" y="1169453"/>
            <a:ext cx="13163089" cy="246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5366" b="1" dirty="0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Learning–Based Hybrid Prioritization Module for </a:t>
            </a:r>
            <a:r>
              <a:rPr lang="en-US" sz="5366" b="1" dirty="0" err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GovConnect</a:t>
            </a:r>
            <a:r>
              <a:rPr lang="en-US" sz="5366" b="1" dirty="0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 LK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1929" y="8953500"/>
            <a:ext cx="391156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2023">
                <a:solidFill>
                  <a:srgbClr val="002035"/>
                </a:solidFill>
                <a:latin typeface="Code Pro"/>
                <a:ea typeface="Code Pro"/>
                <a:cs typeface="Code Pro"/>
                <a:sym typeface="Code Pro"/>
              </a:rPr>
              <a:t>IT22607782- W.M.B.S PREMALAL</a:t>
            </a:r>
          </a:p>
          <a:p>
            <a:pPr algn="ctr">
              <a:lnSpc>
                <a:spcPts val="2428"/>
              </a:lnSpc>
              <a:spcBef>
                <a:spcPct val="0"/>
              </a:spcBef>
            </a:pPr>
            <a:r>
              <a:rPr lang="en-US" sz="2023">
                <a:solidFill>
                  <a:srgbClr val="002035"/>
                </a:solidFill>
                <a:latin typeface="Code Pro"/>
                <a:ea typeface="Code Pro"/>
                <a:cs typeface="Code Pro"/>
                <a:sym typeface="Code Pro"/>
              </a:rPr>
              <a:t>4Y research -25-26J-153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C82BC-80A5-8519-87D8-79E8815E0D08}"/>
              </a:ext>
            </a:extLst>
          </p:cNvPr>
          <p:cNvSpPr txBox="1"/>
          <p:nvPr/>
        </p:nvSpPr>
        <p:spPr>
          <a:xfrm>
            <a:off x="838200" y="4381500"/>
            <a:ext cx="12115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Developed </a:t>
            </a:r>
            <a:r>
              <a:rPr lang="en-US" sz="2800" dirty="0" err="1"/>
              <a:t>RandomForestRegressor</a:t>
            </a:r>
            <a:r>
              <a:rPr lang="en-US" sz="2800" dirty="0"/>
              <a:t> model for priority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Designed feature inputs:</a:t>
            </a:r>
          </a:p>
          <a:p>
            <a:r>
              <a:rPr lang="en-US" sz="2800" dirty="0"/>
              <a:t>                    Citizen priority </a:t>
            </a:r>
          </a:p>
          <a:p>
            <a:r>
              <a:rPr lang="en-US" sz="2800" dirty="0"/>
              <a:t>                    Officer priority </a:t>
            </a:r>
          </a:p>
          <a:p>
            <a:r>
              <a:rPr lang="en-US" sz="2800" dirty="0"/>
              <a:t>                    User voting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Implemented voting system for registered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Added district-based filtering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Integrated ML model with backend for real-time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555121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8"/>
                </a:lnTo>
                <a:lnTo>
                  <a:pt x="0" y="225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80554" y="7555121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8"/>
                </a:lnTo>
                <a:lnTo>
                  <a:pt x="0" y="225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845238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7"/>
                </a:lnTo>
                <a:lnTo>
                  <a:pt x="0" y="225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80554" y="7845238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7"/>
                </a:lnTo>
                <a:lnTo>
                  <a:pt x="0" y="225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8135354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8"/>
                </a:lnTo>
                <a:lnTo>
                  <a:pt x="0" y="225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80554" y="8135354"/>
            <a:ext cx="216794" cy="225158"/>
          </a:xfrm>
          <a:custGeom>
            <a:avLst/>
            <a:gdLst/>
            <a:ahLst/>
            <a:cxnLst/>
            <a:rect l="l" t="t" r="r" b="b"/>
            <a:pathLst>
              <a:path w="216794" h="225158">
                <a:moveTo>
                  <a:pt x="0" y="0"/>
                </a:moveTo>
                <a:lnTo>
                  <a:pt x="216794" y="0"/>
                </a:lnTo>
                <a:lnTo>
                  <a:pt x="216794" y="225158"/>
                </a:lnTo>
                <a:lnTo>
                  <a:pt x="0" y="225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239473" b="-9418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81912" y="9308963"/>
            <a:ext cx="8269598" cy="978037"/>
            <a:chOff x="0" y="0"/>
            <a:chExt cx="11026131" cy="1304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69543" cy="1304049"/>
            </a:xfrm>
            <a:custGeom>
              <a:avLst/>
              <a:gdLst/>
              <a:ahLst/>
              <a:cxnLst/>
              <a:rect l="l" t="t" r="r" b="b"/>
              <a:pathLst>
                <a:path w="3669543" h="1304049">
                  <a:moveTo>
                    <a:pt x="0" y="0"/>
                  </a:moveTo>
                  <a:lnTo>
                    <a:pt x="3669543" y="0"/>
                  </a:lnTo>
                  <a:lnTo>
                    <a:pt x="3669543" y="1304049"/>
                  </a:lnTo>
                  <a:lnTo>
                    <a:pt x="0" y="130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69543" y="445286"/>
              <a:ext cx="7356588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28"/>
                </a:lnSpc>
              </a:pPr>
              <a:r>
                <a:rPr lang="en-US" sz="2523">
                  <a:solidFill>
                    <a:srgbClr val="002035"/>
                  </a:solidFill>
                  <a:latin typeface="Code Pro"/>
                  <a:ea typeface="Code Pro"/>
                  <a:cs typeface="Code Pro"/>
                  <a:sym typeface="Code Pro"/>
                </a:rPr>
                <a:t>Shehara D.M.C. || 25-26J-153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5624" y="454811"/>
              <a:ext cx="2419050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8"/>
                </a:lnSpc>
              </a:pPr>
              <a:r>
                <a:rPr lang="en-US" sz="2223">
                  <a:solidFill>
                    <a:srgbClr val="FFFFFF"/>
                  </a:solidFill>
                  <a:latin typeface="Code Pro"/>
                  <a:ea typeface="Code Pro"/>
                  <a:cs typeface="Code Pro"/>
                  <a:sym typeface="Code Pro"/>
                </a:rPr>
                <a:t>IT22593900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1912" y="311131"/>
            <a:ext cx="5121127" cy="2302812"/>
            <a:chOff x="0" y="0"/>
            <a:chExt cx="6828169" cy="30704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70416" cy="3070416"/>
            </a:xfrm>
            <a:custGeom>
              <a:avLst/>
              <a:gdLst/>
              <a:ahLst/>
              <a:cxnLst/>
              <a:rect l="l" t="t" r="r" b="b"/>
              <a:pathLst>
                <a:path w="3070416" h="3070416">
                  <a:moveTo>
                    <a:pt x="0" y="0"/>
                  </a:moveTo>
                  <a:lnTo>
                    <a:pt x="3070416" y="0"/>
                  </a:lnTo>
                  <a:lnTo>
                    <a:pt x="3070416" y="3070416"/>
                  </a:lnTo>
                  <a:lnTo>
                    <a:pt x="0" y="307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5240" y="799449"/>
              <a:ext cx="4462928" cy="58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1"/>
                </a:lnSpc>
              </a:pPr>
              <a:r>
                <a:rPr lang="en-US" sz="2672" b="1">
                  <a:solidFill>
                    <a:srgbClr val="002035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GovConnect.lk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991802" y="650353"/>
            <a:ext cx="2087729" cy="2672294"/>
          </a:xfrm>
          <a:custGeom>
            <a:avLst/>
            <a:gdLst/>
            <a:ahLst/>
            <a:cxnLst/>
            <a:rect l="l" t="t" r="r" b="b"/>
            <a:pathLst>
              <a:path w="2087729" h="2672294">
                <a:moveTo>
                  <a:pt x="0" y="0"/>
                </a:moveTo>
                <a:lnTo>
                  <a:pt x="2087729" y="0"/>
                </a:lnTo>
                <a:lnTo>
                  <a:pt x="2087729" y="2672293"/>
                </a:lnTo>
                <a:lnTo>
                  <a:pt x="0" y="2672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02021" y="1287987"/>
            <a:ext cx="15698978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9"/>
              </a:lnSpc>
            </a:pPr>
            <a:r>
              <a:rPr lang="en-US" sz="4800" b="1" dirty="0"/>
              <a:t>AI-Based Complaint Classification System</a:t>
            </a:r>
            <a:endParaRPr lang="en-US" sz="4466" b="1" dirty="0">
              <a:solidFill>
                <a:srgbClr val="002035"/>
              </a:solidFill>
              <a:latin typeface="Code Pro Bold"/>
              <a:ea typeface="Code Pro Bold"/>
              <a:cs typeface="Code Pro Bold"/>
              <a:sym typeface="Code Pro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2EF81-A0C6-3685-8F95-12A74D5AA7C3}"/>
              </a:ext>
            </a:extLst>
          </p:cNvPr>
          <p:cNvSpPr txBox="1"/>
          <p:nvPr/>
        </p:nvSpPr>
        <p:spPr>
          <a:xfrm>
            <a:off x="1597348" y="2933700"/>
            <a:ext cx="1227105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Developed AI model using </a:t>
            </a:r>
            <a:r>
              <a:rPr lang="en-US" sz="3200" b="1" dirty="0"/>
              <a:t>LLaMA3 (</a:t>
            </a:r>
            <a:r>
              <a:rPr lang="en-US" sz="3200" b="1" dirty="0" err="1"/>
              <a:t>Ollama</a:t>
            </a:r>
            <a:r>
              <a:rPr lang="en-US" sz="3200" b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Integrated </a:t>
            </a:r>
            <a:r>
              <a:rPr lang="en-US" sz="3200" b="1" dirty="0"/>
              <a:t>RAG (Retrieval-Augmented Generation)</a:t>
            </a:r>
            <a:r>
              <a:rPr lang="en-US" sz="3200" dirty="0"/>
              <a:t> for accurate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Implemented automatic department suggestion based on complaint 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Designed data preprocessing and cleaning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Added </a:t>
            </a:r>
            <a:r>
              <a:rPr lang="en-US" sz="3200" b="1" dirty="0"/>
              <a:t>manual override feature</a:t>
            </a:r>
            <a:r>
              <a:rPr lang="en-US" sz="3200" dirty="0"/>
              <a:t> for user-controlled department selection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6518" y="-558610"/>
            <a:ext cx="5121127" cy="2302812"/>
            <a:chOff x="0" y="0"/>
            <a:chExt cx="6828169" cy="30704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70416" cy="3070416"/>
            </a:xfrm>
            <a:custGeom>
              <a:avLst/>
              <a:gdLst/>
              <a:ahLst/>
              <a:cxnLst/>
              <a:rect l="l" t="t" r="r" b="b"/>
              <a:pathLst>
                <a:path w="3070416" h="3070416">
                  <a:moveTo>
                    <a:pt x="0" y="0"/>
                  </a:moveTo>
                  <a:lnTo>
                    <a:pt x="3070416" y="0"/>
                  </a:lnTo>
                  <a:lnTo>
                    <a:pt x="3070416" y="3070416"/>
                  </a:lnTo>
                  <a:lnTo>
                    <a:pt x="0" y="307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65240" y="799449"/>
              <a:ext cx="4462928" cy="58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27486" y="561834"/>
            <a:ext cx="10254999" cy="4380299"/>
          </a:xfrm>
          <a:custGeom>
            <a:avLst/>
            <a:gdLst/>
            <a:ahLst/>
            <a:cxnLst/>
            <a:rect l="l" t="t" r="r" b="b"/>
            <a:pathLst>
              <a:path w="10128732" h="4181622">
                <a:moveTo>
                  <a:pt x="0" y="0"/>
                </a:moveTo>
                <a:lnTo>
                  <a:pt x="10128732" y="0"/>
                </a:lnTo>
                <a:lnTo>
                  <a:pt x="10128732" y="4181622"/>
                </a:lnTo>
                <a:lnTo>
                  <a:pt x="0" y="4181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3797209" y="8950053"/>
            <a:ext cx="1302368" cy="3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202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Research</a:t>
            </a:r>
          </a:p>
        </p:txBody>
      </p:sp>
      <p:sp>
        <p:nvSpPr>
          <p:cNvPr id="7" name="Freeform 7"/>
          <p:cNvSpPr/>
          <p:nvPr/>
        </p:nvSpPr>
        <p:spPr>
          <a:xfrm>
            <a:off x="4942996" y="5016215"/>
            <a:ext cx="11397640" cy="4705487"/>
          </a:xfrm>
          <a:custGeom>
            <a:avLst/>
            <a:gdLst/>
            <a:ahLst/>
            <a:cxnLst/>
            <a:rect l="l" t="t" r="r" b="b"/>
            <a:pathLst>
              <a:path w="11397640" h="4705487">
                <a:moveTo>
                  <a:pt x="0" y="0"/>
                </a:moveTo>
                <a:lnTo>
                  <a:pt x="11397640" y="0"/>
                </a:lnTo>
                <a:lnTo>
                  <a:pt x="11397640" y="4705487"/>
                </a:lnTo>
                <a:lnTo>
                  <a:pt x="0" y="4705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5109466" y="5095875"/>
            <a:ext cx="11064700" cy="48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User Feedback / Acceptance Testing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Machine Learning &amp; Data Science — build regression models to predict  resolution time.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Natural Language Processing (NLP) — detect category and urgency from Sinhala / English / code-mixed text.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Human-Computer Interaction (HCI) &amp; UX — design an officer dashboard that is usable and accessible.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Full-stack / Cloud Engineering — build APIs, backend, DB and scale on cloud (AWS).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Engineering &amp; Security — store, preprocess, anonymize and secure complaint data.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2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2065401" y="9569302"/>
            <a:ext cx="6068353" cy="717698"/>
            <a:chOff x="0" y="0"/>
            <a:chExt cx="8091138" cy="9569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765" cy="956930"/>
            </a:xfrm>
            <a:custGeom>
              <a:avLst/>
              <a:gdLst/>
              <a:ahLst/>
              <a:cxnLst/>
              <a:rect l="l" t="t" r="r" b="b"/>
              <a:pathLst>
                <a:path w="2692765" h="956930">
                  <a:moveTo>
                    <a:pt x="0" y="0"/>
                  </a:moveTo>
                  <a:lnTo>
                    <a:pt x="2692765" y="0"/>
                  </a:lnTo>
                  <a:lnTo>
                    <a:pt x="2692765" y="956930"/>
                  </a:lnTo>
                  <a:lnTo>
                    <a:pt x="0" y="95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136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92765" y="324222"/>
              <a:ext cx="5398373" cy="382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2"/>
                </a:lnSpc>
              </a:pPr>
              <a:r>
                <a:rPr lang="en-US" sz="1851">
                  <a:solidFill>
                    <a:srgbClr val="002035"/>
                  </a:solidFill>
                  <a:latin typeface="Code Pro"/>
                  <a:ea typeface="Code Pro"/>
                  <a:cs typeface="Code Pro"/>
                  <a:sym typeface="Code Pro"/>
                </a:rPr>
                <a:t>W.M.B.S Premalal || 25-26J-153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2402" y="333747"/>
              <a:ext cx="1775134" cy="32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7"/>
                </a:lnSpc>
              </a:pPr>
              <a:r>
                <a:rPr lang="en-US" sz="1631">
                  <a:solidFill>
                    <a:srgbClr val="FFFFFF"/>
                  </a:solidFill>
                  <a:latin typeface="Code Pro"/>
                  <a:ea typeface="Code Pro"/>
                  <a:cs typeface="Code Pro"/>
                  <a:sym typeface="Code Pro"/>
                </a:rPr>
                <a:t>IT22607782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66582" y="712886"/>
            <a:ext cx="9144000" cy="448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08419"/>
                </a:solidFill>
                <a:latin typeface="Garet Bold"/>
                <a:ea typeface="Garet Bold"/>
                <a:cs typeface="Garet Bold"/>
                <a:sym typeface="Garet Bold"/>
              </a:rPr>
              <a:t> 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Results /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Test Cases: </a:t>
            </a:r>
            <a:r>
              <a:rPr lang="en-US" sz="2800" b="1" dirty="0"/>
              <a:t>39</a:t>
            </a:r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Passed: </a:t>
            </a:r>
            <a:r>
              <a:rPr lang="en-US" sz="2800" b="1" dirty="0"/>
              <a:t>34</a:t>
            </a:r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Failed: </a:t>
            </a:r>
            <a:r>
              <a:rPr lang="en-US" sz="2800" b="1" dirty="0"/>
              <a:t>5</a:t>
            </a:r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 Accuracy: </a:t>
            </a:r>
            <a:r>
              <a:rPr lang="en-US" sz="2800" b="1" dirty="0"/>
              <a:t>~87%</a:t>
            </a:r>
            <a:r>
              <a:rPr lang="en-US" sz="2800" dirty="0"/>
              <a:t> </a:t>
            </a:r>
          </a:p>
          <a:p>
            <a:r>
              <a:rPr lang="en-US" sz="2800" dirty="0"/>
              <a:t>System shows: </a:t>
            </a:r>
          </a:p>
          <a:p>
            <a:pPr lvl="1"/>
            <a:r>
              <a:rPr lang="en-US" sz="2800" dirty="0"/>
              <a:t>High accuracy in department classification </a:t>
            </a:r>
          </a:p>
          <a:p>
            <a:pPr lvl="1"/>
            <a:r>
              <a:rPr lang="en-US" sz="2800" dirty="0"/>
              <a:t>Effective priority prediction using ML </a:t>
            </a:r>
          </a:p>
          <a:p>
            <a:pPr lvl="1"/>
            <a:r>
              <a:rPr lang="en-US" sz="2800" dirty="0"/>
              <a:t>Improved complaint handling efficiency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2130" y="138848"/>
            <a:ext cx="13533806" cy="3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75" b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Learning–Based Resolution Time Prediction and Hybrid Prioritization Module for GovConnect LK</a:t>
            </a:r>
          </a:p>
        </p:txBody>
      </p:sp>
      <p:sp>
        <p:nvSpPr>
          <p:cNvPr id="16" name="Freeform 16"/>
          <p:cNvSpPr/>
          <p:nvPr/>
        </p:nvSpPr>
        <p:spPr>
          <a:xfrm rot="-10800000">
            <a:off x="0" y="5016215"/>
            <a:ext cx="4791645" cy="7329475"/>
          </a:xfrm>
          <a:custGeom>
            <a:avLst/>
            <a:gdLst/>
            <a:ahLst/>
            <a:cxnLst/>
            <a:rect l="l" t="t" r="r" b="b"/>
            <a:pathLst>
              <a:path w="4791645" h="7329475">
                <a:moveTo>
                  <a:pt x="0" y="0"/>
                </a:moveTo>
                <a:lnTo>
                  <a:pt x="4791645" y="0"/>
                </a:lnTo>
                <a:lnTo>
                  <a:pt x="4791645" y="7329476"/>
                </a:lnTo>
                <a:lnTo>
                  <a:pt x="0" y="7329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27486" y="6335019"/>
            <a:ext cx="3736673" cy="3736673"/>
          </a:xfrm>
          <a:custGeom>
            <a:avLst/>
            <a:gdLst/>
            <a:ahLst/>
            <a:cxnLst/>
            <a:rect l="l" t="t" r="r" b="b"/>
            <a:pathLst>
              <a:path w="3736673" h="3736673">
                <a:moveTo>
                  <a:pt x="0" y="0"/>
                </a:moveTo>
                <a:lnTo>
                  <a:pt x="3736673" y="0"/>
                </a:lnTo>
                <a:lnTo>
                  <a:pt x="3736673" y="3736673"/>
                </a:lnTo>
                <a:lnTo>
                  <a:pt x="0" y="3736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97209" y="8950053"/>
            <a:ext cx="1302368" cy="3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202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Research</a:t>
            </a:r>
          </a:p>
        </p:txBody>
      </p:sp>
      <p:sp>
        <p:nvSpPr>
          <p:cNvPr id="3" name="Freeform 3"/>
          <p:cNvSpPr/>
          <p:nvPr/>
        </p:nvSpPr>
        <p:spPr>
          <a:xfrm>
            <a:off x="-250773" y="-370410"/>
            <a:ext cx="2302812" cy="2302812"/>
          </a:xfrm>
          <a:custGeom>
            <a:avLst/>
            <a:gdLst/>
            <a:ahLst/>
            <a:cxnLst/>
            <a:rect l="l" t="t" r="r" b="b"/>
            <a:pathLst>
              <a:path w="2302812" h="2302812">
                <a:moveTo>
                  <a:pt x="0" y="0"/>
                </a:moveTo>
                <a:lnTo>
                  <a:pt x="2302812" y="0"/>
                </a:lnTo>
                <a:lnTo>
                  <a:pt x="2302812" y="2302812"/>
                </a:lnTo>
                <a:lnTo>
                  <a:pt x="0" y="230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6926" y="1486888"/>
            <a:ext cx="13100283" cy="76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endParaRPr lang="en-US" sz="2199" dirty="0">
              <a:solidFill>
                <a:srgbClr val="00203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40"/>
              </a:lnSpc>
            </a:pPr>
            <a:endParaRPr lang="en-US" sz="2199" dirty="0">
              <a:solidFill>
                <a:srgbClr val="00203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27325" y="5521517"/>
            <a:ext cx="407415" cy="407415"/>
          </a:xfrm>
          <a:custGeom>
            <a:avLst/>
            <a:gdLst/>
            <a:ahLst/>
            <a:cxnLst/>
            <a:rect l="l" t="t" r="r" b="b"/>
            <a:pathLst>
              <a:path w="407415" h="407415">
                <a:moveTo>
                  <a:pt x="0" y="0"/>
                </a:moveTo>
                <a:lnTo>
                  <a:pt x="407414" y="0"/>
                </a:lnTo>
                <a:lnTo>
                  <a:pt x="407414" y="407415"/>
                </a:lnTo>
                <a:lnTo>
                  <a:pt x="0" y="407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277404" y="1424882"/>
            <a:ext cx="407415" cy="407415"/>
          </a:xfrm>
          <a:custGeom>
            <a:avLst/>
            <a:gdLst/>
            <a:ahLst/>
            <a:cxnLst/>
            <a:rect l="l" t="t" r="r" b="b"/>
            <a:pathLst>
              <a:path w="407415" h="407415">
                <a:moveTo>
                  <a:pt x="0" y="0"/>
                </a:moveTo>
                <a:lnTo>
                  <a:pt x="407414" y="0"/>
                </a:lnTo>
                <a:lnTo>
                  <a:pt x="407414" y="407414"/>
                </a:lnTo>
                <a:lnTo>
                  <a:pt x="0" y="407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219647" y="9569302"/>
            <a:ext cx="6068353" cy="717698"/>
            <a:chOff x="0" y="0"/>
            <a:chExt cx="8091138" cy="9569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92765" cy="956930"/>
            </a:xfrm>
            <a:custGeom>
              <a:avLst/>
              <a:gdLst/>
              <a:ahLst/>
              <a:cxnLst/>
              <a:rect l="l" t="t" r="r" b="b"/>
              <a:pathLst>
                <a:path w="2692765" h="956930">
                  <a:moveTo>
                    <a:pt x="0" y="0"/>
                  </a:moveTo>
                  <a:lnTo>
                    <a:pt x="2692765" y="0"/>
                  </a:lnTo>
                  <a:lnTo>
                    <a:pt x="2692765" y="956930"/>
                  </a:lnTo>
                  <a:lnTo>
                    <a:pt x="0" y="95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136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2765" y="324222"/>
              <a:ext cx="5398373" cy="382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2"/>
                </a:lnSpc>
              </a:pPr>
              <a:r>
                <a:rPr lang="en-US" sz="1851">
                  <a:solidFill>
                    <a:srgbClr val="002035"/>
                  </a:solidFill>
                  <a:latin typeface="Code Pro"/>
                  <a:ea typeface="Code Pro"/>
                  <a:cs typeface="Code Pro"/>
                  <a:sym typeface="Code Pro"/>
                </a:rPr>
                <a:t>W.M.B.S Premalal || 25-26J-153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2402" y="333747"/>
              <a:ext cx="1775134" cy="32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7"/>
                </a:lnSpc>
              </a:pPr>
              <a:r>
                <a:rPr lang="en-US" sz="1631">
                  <a:solidFill>
                    <a:srgbClr val="FFFFFF"/>
                  </a:solidFill>
                  <a:latin typeface="Code Pro"/>
                  <a:ea typeface="Code Pro"/>
                  <a:cs typeface="Code Pro"/>
                  <a:sym typeface="Code Pro"/>
                </a:rPr>
                <a:t>IT22607782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4431729" y="646377"/>
            <a:ext cx="3562377" cy="8606978"/>
          </a:xfrm>
          <a:custGeom>
            <a:avLst/>
            <a:gdLst/>
            <a:ahLst/>
            <a:cxnLst/>
            <a:rect l="l" t="t" r="r" b="b"/>
            <a:pathLst>
              <a:path w="3562377" h="8606978">
                <a:moveTo>
                  <a:pt x="0" y="0"/>
                </a:moveTo>
                <a:lnTo>
                  <a:pt x="3562377" y="0"/>
                </a:lnTo>
                <a:lnTo>
                  <a:pt x="3562377" y="8606978"/>
                </a:lnTo>
                <a:lnTo>
                  <a:pt x="0" y="8606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14" r="-232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361165" y="473657"/>
            <a:ext cx="13533806" cy="3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75" b="1">
                <a:solidFill>
                  <a:srgbClr val="002035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Learning–Based Resolution Time Prediction and Hybrid Prioritization Module for GovConnect LK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FF0BEF0-ED3D-4D5A-8C8E-A30C48E538E8}"/>
              </a:ext>
            </a:extLst>
          </p:cNvPr>
          <p:cNvSpPr/>
          <p:nvPr/>
        </p:nvSpPr>
        <p:spPr>
          <a:xfrm>
            <a:off x="1066800" y="1181100"/>
            <a:ext cx="10210800" cy="4182608"/>
          </a:xfrm>
          <a:custGeom>
            <a:avLst/>
            <a:gdLst/>
            <a:ahLst/>
            <a:cxnLst/>
            <a:rect l="l" t="t" r="r" b="b"/>
            <a:pathLst>
              <a:path w="10128732" h="4181622">
                <a:moveTo>
                  <a:pt x="0" y="0"/>
                </a:moveTo>
                <a:lnTo>
                  <a:pt x="10128732" y="0"/>
                </a:lnTo>
                <a:lnTo>
                  <a:pt x="10128732" y="4181622"/>
                </a:lnTo>
                <a:lnTo>
                  <a:pt x="0" y="4181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sz="3600" b="1" dirty="0"/>
              <a:t>    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performance depends on quality and size of dataset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accuracy in rare/ambiguous complaints </a:t>
            </a:r>
          </a:p>
          <a:p>
            <a:r>
              <a:rPr lang="en-US" sz="3600" dirty="0"/>
              <a:t>Voting system may introduce bias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continuous model training and updates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8348D86F-E4A5-B50B-3D26-198B38FF1A53}"/>
              </a:ext>
            </a:extLst>
          </p:cNvPr>
          <p:cNvSpPr/>
          <p:nvPr/>
        </p:nvSpPr>
        <p:spPr>
          <a:xfrm>
            <a:off x="1791791" y="5790399"/>
            <a:ext cx="9818852" cy="4246046"/>
          </a:xfrm>
          <a:custGeom>
            <a:avLst/>
            <a:gdLst/>
            <a:ahLst/>
            <a:cxnLst/>
            <a:rect l="l" t="t" r="r" b="b"/>
            <a:pathLst>
              <a:path w="10128732" h="4181622">
                <a:moveTo>
                  <a:pt x="0" y="0"/>
                </a:moveTo>
                <a:lnTo>
                  <a:pt x="10128732" y="0"/>
                </a:lnTo>
                <a:lnTo>
                  <a:pt x="10128732" y="4181622"/>
                </a:lnTo>
                <a:lnTo>
                  <a:pt x="0" y="4181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sz="3600" b="1" dirty="0"/>
              <a:t>Future Improvements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 model accuracy with larger datasets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Introduce Deep Learning models for better predictions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mobile application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Add multilingual support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Enable real-time notifications (SMS/Email)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602</Words>
  <Application>Microsoft Office PowerPoint</Application>
  <PresentationFormat>Custom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Code Pro Bold</vt:lpstr>
      <vt:lpstr>Calibri</vt:lpstr>
      <vt:lpstr>Garet Bold</vt:lpstr>
      <vt:lpstr>Garet</vt:lpstr>
      <vt:lpstr>Code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Orange Modern Research Proposal Presentation</dc:title>
  <dc:creator>Chamudi Shehara</dc:creator>
  <cp:lastModifiedBy>Chamudi Shehara</cp:lastModifiedBy>
  <cp:revision>3</cp:revision>
  <dcterms:created xsi:type="dcterms:W3CDTF">2006-08-16T00:00:00Z</dcterms:created>
  <dcterms:modified xsi:type="dcterms:W3CDTF">2026-04-27T01:13:08Z</dcterms:modified>
  <dc:identifier>DAGySIFv8ck</dc:identifier>
</cp:coreProperties>
</file>